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182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Calibri"/>
              </a:defRPr>
            </a:pPr>
            <a:r>
              <a:t>Version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D2FF"/>
                </a:solidFill>
                <a:latin typeface="Calibri"/>
              </a:defRPr>
            </a:pPr>
            <a:r>
              <a:t>SkyDiscover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AI-Powered Scientific &amp; Algorithmic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 modular framework that uses LLMs to automatically discover,</a:t>
            </a:r>
            <a:br/>
            <a:r>
              <a:t>evolve, and optimize code solutions across 200+ benchmarks.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303520"/>
            <a:ext cx="1463040" cy="3200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Evolutionary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5303520"/>
            <a:ext cx="1463040" cy="3200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LLM-Driven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5303520"/>
            <a:ext cx="1463040" cy="3200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200+ Benchmarks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5303520"/>
            <a:ext cx="1463040" cy="3200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Pluggable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182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Calibri"/>
              </a:defRPr>
            </a:pPr>
            <a:r>
              <a:t>Version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if an AI could write better code than you?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D2FF"/>
                </a:solidFill>
                <a:latin typeface="Calibri"/>
              </a:defRPr>
            </a:pPr>
            <a:r>
              <a:t>SkyDiscover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Give it a problem + an evaluator.</a:t>
            </a:r>
            <a:br/>
            <a:r>
              <a:t>It evolves code solutions using LLMs, keeping what works</a:t>
            </a:r>
            <a:br/>
            <a:r>
              <a:t>and improving what doesn't. Fully automated.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9999AA"/>
                </a:solidFill>
                <a:latin typeface="Calibri"/>
              </a:defRPr>
            </a:pPr>
            <a:r>
              <a:t>Math optimization  |  Systems tuning  |  GPU kernels  |  Competitive programming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182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Calibri"/>
              </a:defRPr>
            </a:pPr>
            <a:r>
              <a:t>Version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SkyDiscover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2FF"/>
                </a:solidFill>
                <a:latin typeface="Calibri"/>
              </a:defRPr>
            </a:pPr>
            <a:r>
              <a:t>The core loop: Sample → Prompt → Generate → Evaluate → Store → Repeat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01168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1. Sample</a:t>
            </a:r>
            <a:br/>
            <a:br/>
            <a:r>
              <a:t>Pick a parent</a:t>
            </a:r>
            <a:br/>
            <a:r>
              <a:t>solution from</a:t>
            </a:r>
            <a:br/>
            <a:r>
              <a:t>the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71800" y="1828800"/>
            <a:ext cx="201168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2. Prompt</a:t>
            </a:r>
            <a:br/>
            <a:br/>
            <a:r>
              <a:t>Build an LLM</a:t>
            </a:r>
            <a:br/>
            <a:r>
              <a:t>prompt with</a:t>
            </a:r>
            <a:br/>
            <a:r>
              <a:t>code + feedback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1828800"/>
            <a:ext cx="201168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12080" y="1828800"/>
            <a:ext cx="201168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3. Generate</a:t>
            </a:r>
            <a:br/>
            <a:br/>
            <a:r>
              <a:t>LLM writes a</a:t>
            </a:r>
            <a:br/>
            <a:r>
              <a:t>new/improved</a:t>
            </a:r>
            <a:br/>
            <a:r>
              <a:t>version of the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828800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52360" y="1828800"/>
            <a:ext cx="201168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4. Evaluate</a:t>
            </a:r>
            <a:br/>
            <a:br/>
            <a:r>
              <a:t>Run the evaluator</a:t>
            </a:r>
            <a:br/>
            <a:r>
              <a:t>to score the</a:t>
            </a:r>
            <a:br/>
            <a:r>
              <a:t>new 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1828800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2640" y="1828800"/>
            <a:ext cx="201168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5. Store</a:t>
            </a:r>
            <a:br/>
            <a:br/>
            <a:r>
              <a:t>Save to database</a:t>
            </a:r>
            <a:br/>
            <a:r>
              <a:t>if it improves</a:t>
            </a:r>
            <a:br/>
            <a:r>
              <a:t>the population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1828800"/>
            <a:ext cx="201168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You provide:  initial_program.py  +  evaluator.py  +  config.yaml</a:t>
            </a:r>
            <a:br/>
            <a:r>
              <a:t>SkyDiscover does the rest — iterating hundreds of times, guided by your evaluator.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182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Calibri"/>
              </a:defRPr>
            </a:pPr>
            <a:r>
              <a:t>Version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SkyDiscover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0040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YOU PROVIDE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Initial program</a:t>
            </a:r>
            <a:br/>
            <a:r>
              <a:t>   (starting code, can be empty)</a:t>
            </a:r>
          </a:p>
          <a:p>
            <a:pPr>
              <a:spcAft>
                <a:spcPts val="1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Evaluator function</a:t>
            </a:r>
            <a:br/>
            <a:r>
              <a:t>   evaluate(path) → {score: float}</a:t>
            </a:r>
          </a:p>
          <a:p>
            <a:pPr>
              <a:spcAft>
                <a:spcPts val="1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Config (YAML)</a:t>
            </a:r>
            <a:br/>
            <a:r>
              <a:t>   algorithm, iterations, LLM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0175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00D2FF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371600"/>
            <a:ext cx="320040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SKYDISCOVER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0116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LLM generates new code variants</a:t>
            </a:r>
          </a:p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Evaluator scores each variant</a:t>
            </a:r>
          </a:p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Search algorithm picks winners</a:t>
            </a:r>
          </a:p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Repeats 100s–1000s of times</a:t>
            </a:r>
          </a:p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Checkpoints progress to disk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0175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00D2FF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1371600"/>
            <a:ext cx="292608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YOU 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0116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Best solution code</a:t>
            </a:r>
            <a:br/>
            <a:r>
              <a:t>   (best_program.py)</a:t>
            </a:r>
          </a:p>
          <a:p>
            <a:pPr>
              <a:spcAft>
                <a:spcPts val="1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Score + metrics</a:t>
            </a:r>
            <a:br/>
            <a:r>
              <a:t>   (best_program_info.json)</a:t>
            </a:r>
          </a:p>
          <a:p>
            <a:pPr>
              <a:spcAft>
                <a:spcPts val="1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Full search history</a:t>
            </a:r>
            <a:br/>
            <a:r>
              <a:t>   (checkpoints, logs)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182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Calibri"/>
              </a:defRPr>
            </a:pPr>
            <a:r>
              <a:t>Version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Search Algorithms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Calibri"/>
              </a:defRPr>
            </a:pPr>
            <a:r>
              <a:t>From simple baselines to state-of-the-art co-evolution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64592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9999AA"/>
                </a:solidFill>
                <a:latin typeface="Calibri"/>
              </a:defRPr>
            </a:pPr>
            <a:r>
              <a:t>TopK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Keep top K solutions, refine the best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AA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164592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9999AA"/>
                </a:solidFill>
                <a:latin typeface="Calibri"/>
              </a:defRPr>
            </a:pPr>
            <a:r>
              <a:t>Best-of-N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331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Try N variants per round, keep the winner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AA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164592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CCCCC"/>
                </a:solidFill>
                <a:latin typeface="Calibri"/>
              </a:defRPr>
            </a:pPr>
            <a:r>
              <a:t>Beam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971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Expand a beam with diversity weighting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971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164592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  <a:latin typeface="Calibri"/>
              </a:defRPr>
            </a:pPr>
            <a:r>
              <a:t>OpenEvolve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611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MAP-Elites grid + island migration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611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164592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  <a:latin typeface="Calibri"/>
              </a:defRPr>
            </a:pPr>
            <a:r>
              <a:t>GEPA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2519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Pareto-based multi-objective + LLM merge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59E0B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164592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D2FF"/>
                </a:solidFill>
                <a:latin typeface="Calibri"/>
              </a:defRPr>
            </a:pPr>
            <a:r>
              <a:t>AdaEvolve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892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Multi-island UCB + adaptive intensity + paradigm breakthrough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4892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D2FF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86400"/>
            <a:ext cx="164592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C4899"/>
                </a:solidFill>
                <a:latin typeface="Calibri"/>
              </a:defRPr>
            </a:pPr>
            <a:r>
              <a:t>EvoX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5532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Co-evolves solutions AND the search strategy itself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5532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EC4899"/>
                </a:solidFill>
                <a:latin typeface="Calibri"/>
              </a:defRPr>
            </a:pPr>
            <a:r>
              <a:t>Advanced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182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Calibri"/>
              </a:defRPr>
            </a:pPr>
            <a:r>
              <a:t>Version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Search Algorithms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999AA"/>
                </a:solidFill>
                <a:latin typeface="Calibri"/>
              </a:defRPr>
            </a:pPr>
            <a:r>
              <a:t>Simple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3474720" cy="36576"/>
          </a:xfrm>
          <a:prstGeom prst="rect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29184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999AA"/>
                </a:solidFill>
                <a:latin typeface="Calibri"/>
              </a:defRPr>
            </a:pPr>
            <a:r>
              <a:t>TopK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Keep best K, refine 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00400"/>
            <a:ext cx="329184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999AA"/>
                </a:solidFill>
                <a:latin typeface="Calibri"/>
              </a:defRPr>
            </a:pPr>
            <a:r>
              <a:t>Best-of-N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N variants per round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480560"/>
            <a:ext cx="329184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999AA"/>
                </a:solidFill>
                <a:latin typeface="Calibri"/>
              </a:defRPr>
            </a:pPr>
            <a:r>
              <a:t>Beam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377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Diverse beam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Quality-Diversity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1691640"/>
            <a:ext cx="34747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1999" y="1920240"/>
            <a:ext cx="329184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OpenEvolve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377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MAP-Elites grid</a:t>
            </a:r>
            <a:br/>
            <a:r>
              <a:t>+ island migration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1999" y="3200400"/>
            <a:ext cx="329184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GEPA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36576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Pareto multi-objective</a:t>
            </a:r>
            <a:br/>
            <a:r>
              <a:t>+ LLM merge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8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Calibri"/>
              </a:defRPr>
            </a:pPr>
            <a:r>
              <a:t>Adaptive / Co-Evolving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598" y="1691640"/>
            <a:ext cx="34747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21038" y="1920240"/>
            <a:ext cx="329184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8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AdaEvolve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8" y="2377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Adaptive intensity</a:t>
            </a:r>
            <a:br/>
            <a:r>
              <a:t>+ paradigm breakthrough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38" y="3200400"/>
            <a:ext cx="329184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18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EvoX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8" y="36576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Co-evolves solutions</a:t>
            </a:r>
            <a:br/>
            <a:r>
              <a:t>AND search strategy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182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Calibri"/>
              </a:defRPr>
            </a:pPr>
            <a:r>
              <a:t>Version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Advanced Algorithms: AdaEvolve &amp; EvoX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7548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AdaEvolve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Flagship algorithm — inspired by biological evolution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Multi-Island System — parallel populations explore different regions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UCB Selection — smart island picking (explore vs exploit)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Adaptive Intensity — speeds up when improving, slows when stuck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Paradigm Breakthrough — LLM proposes entirely new strategies when stuck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Unified Archive — quality-diversity elite tracking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Error Retry — feeds errors back to LLM for self-correction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120640" cy="47548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C4899"/>
                </a:solidFill>
                <a:latin typeface="Calibri"/>
              </a:defRPr>
            </a:pPr>
            <a:r>
              <a:t>EvoX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Co-evolution — the search learns to search better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Two Populations — solutions + search strategies evolve together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Strategy as Code — the search algo is itself a Python program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Strategy Scoring — strategies rated by how well their solutions improve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Auto Variation Ops — LLM generates problem-specific mutations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Self-Improving — better strategies find better solutions, which test strategies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182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Calibri"/>
              </a:defRPr>
            </a:pPr>
            <a:r>
              <a:t>Version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Advanced Algorithms: AdaEvolve &amp; EvoX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AdaEvolve: Adaptive Multi-Island Evolution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64592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Island 1</a:t>
            </a:r>
            <a:br/>
            <a:r>
              <a:t>(exploring)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737360"/>
            <a:ext cx="164592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59E0B"/>
                </a:solidFill>
                <a:latin typeface="Calibri"/>
              </a:defRPr>
            </a:pPr>
            <a:r>
              <a:t>Island 2</a:t>
            </a:r>
            <a:br/>
            <a:r>
              <a:t>(exploiting)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164592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C4899"/>
                </a:solidFill>
                <a:latin typeface="Calibri"/>
              </a:defRPr>
            </a:pPr>
            <a:r>
              <a:t>Island 3</a:t>
            </a:r>
            <a:br/>
            <a:r>
              <a:t>(new paradigm)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2FF"/>
                </a:solidFill>
                <a:latin typeface="Calibri"/>
              </a:defRPr>
            </a:pPr>
            <a:r>
              <a:t>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2FF"/>
                </a:solidFill>
                <a:latin typeface="Calibri"/>
              </a:defRPr>
            </a:pPr>
            <a:r>
              <a:t>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UCB selects which island to evolve next.</a:t>
            </a:r>
            <a:br/>
            <a:r>
              <a:t>Adaptive intensity: fast improvement → explore more,</a:t>
            </a:r>
            <a:br/>
            <a:r>
              <a:t>stagnation → exploit or trigger paradigm breakthrough.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4899"/>
                </a:solidFill>
                <a:latin typeface="Calibri"/>
              </a:defRPr>
            </a:pPr>
            <a:r>
              <a:t>EvoX: Co-Evolution of Solutions &amp; Strategy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22860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Solution</a:t>
            </a:r>
            <a:br/>
            <a:r>
              <a:t>Population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737360"/>
            <a:ext cx="22860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Strategy</a:t>
            </a:r>
            <a:br/>
            <a:r>
              <a:t>Population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783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C4899"/>
                </a:solidFill>
                <a:latin typeface="Calibri"/>
              </a:defRPr>
            </a:pPr>
            <a:r>
              <a:t>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017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Strategy code decides how to sample &amp; mutate solutions.</a:t>
            </a:r>
            <a:br/>
            <a:r>
              <a:t>Solutions test the strategy's effectiveness.</a:t>
            </a:r>
            <a:br/>
            <a:r>
              <a:t>Both improve together — the search learns to search.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10698480" cy="21945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When to use which?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AdaEvolve</a:t>
            </a:r>
            <a:br/>
            <a:r>
              <a:t>• Best for: known problem types</a:t>
            </a:r>
            <a:br/>
            <a:r>
              <a:t>• Strength: robust, well-tuned defaults</a:t>
            </a:r>
            <a:br/>
            <a:r>
              <a:t>• Handles stagnation with paradigm shifts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7548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EvoX</a:t>
            </a:r>
            <a:br/>
            <a:r>
              <a:t>• Best for: novel/unusual problem structures</a:t>
            </a:r>
            <a:br/>
            <a:r>
              <a:t>• Strength: discovers problem-specific strategies</a:t>
            </a:r>
            <a:br/>
            <a:r>
              <a:t>• Higher overhead, higher ceiling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182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Calibri"/>
              </a:defRPr>
            </a:pPr>
            <a:r>
              <a:t>Version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Quality-Diversity Algorithms: OpenEvolve &amp; GEPA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7548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Calibri"/>
              </a:defRPr>
            </a:pPr>
            <a:r>
              <a:t>OpenEvolve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Inspired by MAP-Elites — quality meets diversity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MAP-Elites Grid — cells defined by feature dimensions (complexity, diversity)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Island System — multiple independent grids with ring migration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Three Modes — explore (random), exploit (elite), random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Preserves Diversity — keeps different "types" of good solutions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Good for problems with multiple valid approaches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120640" cy="47548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Calibri"/>
              </a:defRPr>
            </a:pPr>
            <a:r>
              <a:t>GEPA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Multi-objective Pareto optimization with LLM merging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Pareto Front — tracks non-dominated solutions across objectives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Acceptance Gating — only keeps solutions that improve the front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LLM Merge — asks LLM to intelligently combine two good solutions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Reflective Prompting — feeds eval artifacts back into prompts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Best for multi-objective problems (speed vs accuracy, etc.)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182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Calibri"/>
              </a:defRPr>
            </a:pPr>
            <a:r>
              <a:t>Version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Quality-Diversity Algorithms: OpenEvolve &amp; GEPA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OpenEvolve: MAP-Elites Quality-Diversity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280160" cy="1005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0B981"/>
                </a:solidFill>
                <a:latin typeface="Calibri"/>
              </a:defRPr>
            </a:pPr>
            <a:r>
              <a:t>Low</a:t>
            </a:r>
            <a:br/>
            <a:r>
              <a:t>complexity</a:t>
            </a:r>
            <a:br/>
            <a:r>
              <a:t>high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737360"/>
            <a:ext cx="1280160" cy="1005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0B981"/>
                </a:solidFill>
                <a:latin typeface="Calibri"/>
              </a:defRPr>
            </a:pPr>
            <a:r>
              <a:t>High</a:t>
            </a:r>
            <a:br/>
            <a:r>
              <a:t>complexity</a:t>
            </a:r>
            <a:br/>
            <a:r>
              <a:t>high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280160" cy="1005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999AA"/>
                </a:solidFill>
                <a:latin typeface="Calibri"/>
              </a:defRPr>
            </a:pPr>
            <a:r>
              <a:t>Low</a:t>
            </a:r>
            <a:br/>
            <a:r>
              <a:t>complexity</a:t>
            </a:r>
            <a:br/>
            <a:r>
              <a:t>low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2926080"/>
            <a:ext cx="1280160" cy="1005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999AA"/>
                </a:solidFill>
                <a:latin typeface="Calibri"/>
              </a:defRPr>
            </a:pPr>
            <a:r>
              <a:t>High</a:t>
            </a:r>
            <a:br/>
            <a:r>
              <a:t>complexity</a:t>
            </a:r>
            <a:br/>
            <a:r>
              <a:t>low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3736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Each cell stores the best</a:t>
            </a:r>
            <a:br/>
            <a:r>
              <a:t>solution for that "type".</a:t>
            </a:r>
            <a:br/>
            <a:br/>
            <a:r>
              <a:t>Multiple islands maintain</a:t>
            </a:r>
            <a:br/>
            <a:r>
              <a:t>independent grids.</a:t>
            </a:r>
            <a:br/>
            <a:br/>
            <a:r>
              <a:t>Top solutions migrate</a:t>
            </a:r>
            <a:br/>
            <a:r>
              <a:t>between islands periodically.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GEPA: Pareto Multi-Objective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Objective A (e.g. Speed)  vs  Objective B (e.g. Accuracy)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86000"/>
            <a:ext cx="137160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59E0B"/>
                </a:solidFill>
                <a:latin typeface="Calibri"/>
              </a:defRPr>
            </a:pPr>
            <a:r>
              <a:t>Sol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743200"/>
            <a:ext cx="137160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59E0B"/>
                </a:solidFill>
                <a:latin typeface="Calibri"/>
              </a:defRPr>
            </a:pPr>
            <a:r>
              <a:t>Sol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560320"/>
            <a:ext cx="137160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59E0B"/>
                </a:solidFill>
                <a:latin typeface="Calibri"/>
              </a:defRPr>
            </a:pPr>
            <a:r>
              <a:t>Sol 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103120"/>
            <a:ext cx="137160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EC4899"/>
                </a:solidFill>
                <a:latin typeface="Calibri"/>
              </a:defRPr>
            </a:pPr>
            <a:r>
              <a:t>Sol D (merged)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383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Only solutions on the Pareto front survive.</a:t>
            </a:r>
            <a:br/>
            <a:r>
              <a:t>LLM merges two parents → potentially better tradeoff.</a:t>
            </a:r>
            <a:br/>
            <a:r>
              <a:t>Reflective prompting: eval feedback goes into the next prompt.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1069848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Difference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OpenEvolve: Diversity by design — explicitly maintains</a:t>
            </a:r>
            <a:br/>
            <a:r>
              <a:t>different types of solutions in a structured grid.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3035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Calibri"/>
              </a:defRPr>
            </a:pPr>
            <a:r>
              <a:t>GEPA: Tradeoff optimization — finds the best balance</a:t>
            </a:r>
            <a:br/>
            <a:r>
              <a:t>across multiple competing objectives.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182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Calibri"/>
              </a:defRPr>
            </a:pPr>
            <a:r>
              <a:t>Version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Example: Optimizing a Load-Balancing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Calibri"/>
              </a:defRPr>
            </a:pPr>
            <a:r>
              <a:t>Real benchmark: BLIS Router — routing LLM inference requests across GPU servers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73152" cy="10058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1. Define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You have a Go function that routes requests to servers.</a:t>
            </a:r>
            <a:br/>
            <a:r>
              <a:t>Goal: minimize latency while balancing load.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73152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2. Write an Evaluator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evaluator.py runs a simulator, returns:</a:t>
            </a:r>
            <a:br/>
            <a:r>
              <a:t>{"combined_score": avg_latency_improvement}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7315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3. Pick an Algorithm &amp;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skydiscover-run routing.go evaluator.py \</a:t>
            </a:r>
            <a:br/>
            <a:r>
              <a:t>  -s adaevolve -i 200 -c config.yaml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49240"/>
            <a:ext cx="73152" cy="10058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49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Calibri"/>
              </a:defRPr>
            </a:pPr>
            <a:r>
              <a:t>4. Get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7150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SkyDiscover outputs an optimized routing function</a:t>
            </a:r>
            <a:br/>
            <a:r>
              <a:t>that outperforms the hand-tuned baseline.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182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Calibri"/>
              </a:defRPr>
            </a:pPr>
            <a:r>
              <a:t>Version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Can You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Calibri"/>
              </a:defRPr>
            </a:pPr>
            <a:r>
              <a:t>200+ benchmarks across four domains — bring your own problem too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Math &amp;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Function optimization, combinatorics,</a:t>
            </a:r>
            <a:br/>
            <a:r>
              <a:t>numerical methods, scheduling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3035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Systems &amp;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Load balancing, routing algorithms,</a:t>
            </a:r>
            <a:br/>
            <a:r>
              <a:t>caching policies, resource allocation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3035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GPU Kernels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CUDA/Triton kernel optimization,</a:t>
            </a:r>
            <a:br/>
            <a:r>
              <a:t>memory access patterns, tiling strategies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931920"/>
            <a:ext cx="53035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069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C4899"/>
                </a:solidFill>
                <a:latin typeface="Calibri"/>
              </a:defRPr>
            </a:pPr>
            <a:r>
              <a:t>Competitive Programming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5720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Algorithm design, data structures,</a:t>
            </a:r>
            <a:br/>
            <a:r>
              <a:t>graph problems, dynamic programming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D2FF"/>
                </a:solidFill>
                <a:latin typeface="Calibri"/>
              </a:defRPr>
            </a:pPr>
            <a:r>
              <a:t>Any problem with code + a scoring function can be a SkyDiscover benchmark.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