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3"/>
    <p:restoredTop sz="94689"/>
  </p:normalViewPr>
  <p:slideViewPr>
    <p:cSldViewPr snapToGrid="0" snapToObjects="1">
      <p:cViewPr varScale="1">
        <p:scale>
          <a:sx n="147" d="100"/>
          <a:sy n="147" d="100"/>
        </p:scale>
        <p:origin x="1064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Combined Score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E74C3C"/>
              </a:solidFill>
            </c:spPr>
            <c:extLst>
              <c:ext xmlns:c16="http://schemas.microsoft.com/office/drawing/2014/chart" uri="{C3380CC4-5D6E-409C-BE32-E72D297353CC}">
                <c16:uniqueId val="{00000001-2BBC-DD42-A20D-F94467593606}"/>
              </c:ext>
            </c:extLst>
          </c:dPt>
          <c:dPt>
            <c:idx val="1"/>
            <c:invertIfNegative val="1"/>
            <c:bubble3D val="0"/>
            <c:spPr>
              <a:solidFill>
                <a:srgbClr val="FF8C42"/>
              </a:solidFill>
            </c:spPr>
            <c:extLst>
              <c:ext xmlns:c16="http://schemas.microsoft.com/office/drawing/2014/chart" uri="{C3380CC4-5D6E-409C-BE32-E72D297353CC}">
                <c16:uniqueId val="{00000003-2BBC-DD42-A20D-F94467593606}"/>
              </c:ext>
            </c:extLst>
          </c:dPt>
          <c:dPt>
            <c:idx val="2"/>
            <c:invertIfNegative val="1"/>
            <c:bubble3D val="0"/>
            <c:spPr>
              <a:solidFill>
                <a:srgbClr val="00B4A0"/>
              </a:solidFill>
            </c:spPr>
            <c:extLst>
              <c:ext xmlns:c16="http://schemas.microsoft.com/office/drawing/2014/chart" uri="{C3380CC4-5D6E-409C-BE32-E72D297353CC}">
                <c16:uniqueId val="{00000005-2BBC-DD42-A20D-F94467593606}"/>
              </c:ext>
            </c:extLst>
          </c:dPt>
          <c:dPt>
            <c:idx val="3"/>
            <c:invertIfNegative val="1"/>
            <c:bubble3D val="0"/>
            <c:spPr>
              <a:solidFill>
                <a:srgbClr val="007ACC"/>
              </a:solidFill>
            </c:spPr>
            <c:extLst>
              <c:ext xmlns:c16="http://schemas.microsoft.com/office/drawing/2014/chart" uri="{C3380CC4-5D6E-409C-BE32-E72D297353CC}">
                <c16:uniqueId val="{00000007-2BBC-DD42-A20D-F94467593606}"/>
              </c:ext>
            </c:extLst>
          </c:dPt>
          <c:dPt>
            <c:idx val="4"/>
            <c:invertIfNegative val="1"/>
            <c:bubble3D val="0"/>
            <c:spPr>
              <a:solidFill>
                <a:srgbClr val="9B59B6"/>
              </a:solidFill>
            </c:spPr>
            <c:extLst>
              <c:ext xmlns:c16="http://schemas.microsoft.com/office/drawing/2014/chart" uri="{C3380CC4-5D6E-409C-BE32-E72D297353CC}">
                <c16:uniqueId val="{00000009-2BBC-DD42-A20D-F94467593606}"/>
              </c:ext>
            </c:extLst>
          </c:dPt>
          <c:cat>
            <c:strRef>
              <c:f>Sheet1!$A$2:$A$6</c:f>
              <c:strCache>
                <c:ptCount val="5"/>
                <c:pt idx="0">
                  <c:v>Baseline</c:v>
                </c:pt>
                <c:pt idx="1">
                  <c:v>adaevolve</c:v>
                </c:pt>
                <c:pt idx="2">
                  <c:v>openevolve</c:v>
                </c:pt>
                <c:pt idx="3">
                  <c:v>evox</c:v>
                </c:pt>
                <c:pt idx="4">
                  <c:v>gepa_native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-14222</c:v>
                </c:pt>
                <c:pt idx="1">
                  <c:v>-5566</c:v>
                </c:pt>
                <c:pt idx="2">
                  <c:v>-5265</c:v>
                </c:pt>
                <c:pt idx="3">
                  <c:v>-5220</c:v>
                </c:pt>
                <c:pt idx="4">
                  <c:v>-5220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2BBC-DD42-A20D-F9446759360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>
          <c:spPr>
            <a:ln>
              <a:solidFill>
                <a:srgbClr val="444455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900">
                    <a:solidFill>
                      <a:srgbClr val="888899"/>
                    </a:solidFill>
                  </a:defRPr>
                </a:pPr>
                <a:r>
                  <a:rPr lang="en-US"/>
                  <a:t>Score (higher = better)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000">
          <a:solidFill>
            <a:srgbClr val="CCCCCC"/>
          </a:solidFill>
        </a:defRPr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SkyDiscover: AI-Driven Algorithm Discovery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0B4A0"/>
                </a:solidFill>
                <a:latin typeface="Calibri"/>
              </a:defRPr>
            </a:pPr>
            <a:r>
              <a:rPr lang="en-US" dirty="0"/>
              <a:t>Claude as Experiment Orchestrator — Not the Optimizer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920240"/>
            <a:ext cx="109728" cy="6858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77240" y="1920240"/>
            <a:ext cx="4754880" cy="68580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7ACC"/>
                </a:solidFill>
                <a:latin typeface="Calibri"/>
              </a:defRPr>
            </a:pPr>
            <a:r>
              <a:t>1. INITIATE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1965960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Claude reads experiment config,</a:t>
            </a:r>
            <a:br/>
            <a:r>
              <a:t>sets env vars, creates output dirs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65176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8899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788920"/>
            <a:ext cx="109728" cy="685800"/>
          </a:xfrm>
          <a:prstGeom prst="rect">
            <a:avLst/>
          </a:prstGeom>
          <a:solidFill>
            <a:srgbClr val="00B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77240" y="2788920"/>
            <a:ext cx="4754880" cy="68580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28346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B4A0"/>
                </a:solidFill>
                <a:latin typeface="Calibri"/>
              </a:defRPr>
            </a:pPr>
            <a:r>
              <a:t>2. LAUNCH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834640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Claude runs skydiscover-run CLI</a:t>
            </a:r>
            <a:br/>
            <a:r>
              <a:t>(hands off to search framework)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52044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8899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657600"/>
            <a:ext cx="109728" cy="6858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777240" y="3657600"/>
            <a:ext cx="4754880" cy="68580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37033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8C42"/>
                </a:solidFill>
                <a:latin typeface="Calibri"/>
              </a:defRPr>
            </a:pPr>
            <a:r>
              <a:t>3. MONITOR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3703320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Claude checks logs every 2 min:</a:t>
            </a:r>
            <a:br/>
            <a:r>
              <a:t>progress, errors, best scores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38912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8899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526279"/>
            <a:ext cx="109728" cy="68580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777240" y="4526279"/>
            <a:ext cx="4754880" cy="68580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4400" y="4571999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B59B6"/>
                </a:solidFill>
                <a:latin typeface="Calibri"/>
              </a:defRPr>
            </a:pPr>
            <a:r>
              <a:t>4. ANALYZE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68880" y="4571999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Claude runs 4 analysis scripts:</a:t>
            </a:r>
            <a:br/>
            <a:r>
              <a:t>compare, plot, effort, diffs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5257799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8899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394960"/>
            <a:ext cx="109728" cy="6858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777240" y="5394960"/>
            <a:ext cx="4754880" cy="68580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4400" y="54406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CC71"/>
                </a:solidFill>
                <a:latin typeface="Calibri"/>
              </a:defRPr>
            </a:pPr>
            <a:r>
              <a:t>5. SUMMARIZE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68880" y="5440680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Claude writes analysis.md with</a:t>
            </a:r>
            <a:br/>
            <a:r>
              <a:t>tables, findings, recommendations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rPr dirty="0"/>
              <a:t>The Key Distinction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799" y="1920240"/>
            <a:ext cx="4066903" cy="219456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675120" y="20116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7ACC"/>
                </a:solidFill>
                <a:latin typeface="Calibri"/>
              </a:defRPr>
            </a:pPr>
            <a:r>
              <a:rPr dirty="0"/>
              <a:t>Claude (Orchestrator)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237744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2ECC71"/>
                </a:solidFill>
                <a:latin typeface="Calibri"/>
              </a:defRPr>
            </a:pPr>
            <a:r>
              <a:t>✓  Sets up experiment environment &amp; config</a:t>
            </a:r>
          </a:p>
          <a:p>
            <a:pPr>
              <a:spcAft>
                <a:spcPts val="400"/>
              </a:spcAft>
              <a:defRPr sz="1200" b="0">
                <a:solidFill>
                  <a:srgbClr val="2ECC71"/>
                </a:solidFill>
                <a:latin typeface="Calibri"/>
              </a:defRPr>
            </a:pPr>
            <a:r>
              <a:t>✓  Launches search frameworks via CLI</a:t>
            </a:r>
          </a:p>
          <a:p>
            <a:pPr>
              <a:spcAft>
                <a:spcPts val="400"/>
              </a:spcAft>
              <a:defRPr sz="1200" b="0">
                <a:solidFill>
                  <a:srgbClr val="2ECC71"/>
                </a:solidFill>
                <a:latin typeface="Calibri"/>
              </a:defRPr>
            </a:pPr>
            <a:r>
              <a:t>✓  Monitors progress &amp; reports status</a:t>
            </a:r>
          </a:p>
          <a:p>
            <a:pPr>
              <a:spcAft>
                <a:spcPts val="400"/>
              </a:spcAft>
              <a:defRPr sz="1200" b="0">
                <a:solidFill>
                  <a:srgbClr val="2ECC71"/>
                </a:solidFill>
                <a:latin typeface="Calibri"/>
              </a:defRPr>
            </a:pPr>
            <a:r>
              <a:t>✓  Runs post-experiment analysis scripts</a:t>
            </a:r>
          </a:p>
          <a:p>
            <a:pPr>
              <a:spcAft>
                <a:spcPts val="400"/>
              </a:spcAft>
              <a:defRPr sz="1200" b="0">
                <a:solidFill>
                  <a:srgbClr val="2ECC71"/>
                </a:solidFill>
                <a:latin typeface="Calibri"/>
              </a:defRPr>
            </a:pPr>
            <a:r>
              <a:t>✓  Writes summary with tables &amp; findings</a:t>
            </a:r>
          </a:p>
          <a:p>
            <a:pPr>
              <a:spcAft>
                <a:spcPts val="400"/>
              </a:spcAft>
              <a:defRPr sz="1200" b="0">
                <a:solidFill>
                  <a:srgbClr val="E74C3C"/>
                </a:solidFill>
                <a:latin typeface="Calibri"/>
              </a:defRPr>
            </a:pPr>
            <a:r>
              <a:t>✗  Does NOT generate code mutations</a:t>
            </a:r>
          </a:p>
          <a:p>
            <a:pPr>
              <a:spcAft>
                <a:spcPts val="400"/>
              </a:spcAft>
              <a:defRPr sz="1200" b="0">
                <a:solidFill>
                  <a:srgbClr val="E74C3C"/>
                </a:solidFill>
                <a:latin typeface="Calibri"/>
              </a:defRPr>
            </a:pPr>
            <a:r>
              <a:t>✗  Does NOT evaluate candidate programs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0" y="4206240"/>
            <a:ext cx="4066903" cy="237744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00B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675120" y="42976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B4A0"/>
                </a:solidFill>
                <a:latin typeface="Calibri"/>
              </a:defRPr>
            </a:pPr>
            <a:r>
              <a:t>Search Frameworks (The Actual Optimizers)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75120" y="466344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FF8C42"/>
                </a:solidFill>
                <a:latin typeface="Calibri"/>
              </a:defRPr>
            </a:pPr>
            <a:r>
              <a:t>AdaEvolve — multi-island adaptive evolution</a:t>
            </a:r>
          </a:p>
          <a:p>
            <a:pPr>
              <a:spcAft>
                <a:spcPts val="400"/>
              </a:spcAft>
              <a:defRPr sz="1200" b="0">
                <a:solidFill>
                  <a:srgbClr val="007ACC"/>
                </a:solidFill>
                <a:latin typeface="Calibri"/>
              </a:defRPr>
            </a:pPr>
            <a:r>
              <a:t>EvoX — evolutionary search with populations</a:t>
            </a:r>
          </a:p>
          <a:p>
            <a:pPr>
              <a:spcAft>
                <a:spcPts val="400"/>
              </a:spcAft>
              <a:defRPr sz="1200" b="0">
                <a:solidFill>
                  <a:srgbClr val="00B4A0"/>
                </a:solidFill>
                <a:latin typeface="Calibri"/>
              </a:defRPr>
            </a:pPr>
            <a:r>
              <a:t>OpenEvolve — LLM-guided program synthesis</a:t>
            </a:r>
          </a:p>
          <a:p>
            <a:pPr>
              <a:spcAft>
                <a:spcPts val="400"/>
              </a:spcAft>
              <a:defRPr sz="1200" b="0">
                <a:solidFill>
                  <a:srgbClr val="9B59B6"/>
                </a:solidFill>
                <a:latin typeface="Calibri"/>
              </a:defRPr>
            </a:pPr>
            <a:r>
              <a:t>GEPA — genetic programming with archives</a:t>
            </a:r>
          </a:p>
          <a:p>
            <a:pPr>
              <a:spcAft>
                <a:spcPts val="400"/>
              </a:spcAft>
              <a:defRPr sz="800" b="0">
                <a:solidFill>
                  <a:srgbClr val="CCCCCC"/>
                </a:solidFill>
                <a:latin typeface="Calibri"/>
              </a:defRPr>
            </a:pPr>
            <a:endParaRPr/>
          </a:p>
          <a:p>
            <a:pPr>
              <a:spcAft>
                <a:spcPts val="400"/>
              </a:spcAft>
              <a:defRPr sz="1100" b="0">
                <a:solidFill>
                  <a:srgbClr val="888899"/>
                </a:solidFill>
                <a:latin typeface="Calibri"/>
              </a:defRPr>
            </a:pPr>
            <a:r>
              <a:t>These frameworks use LLMs to mutate Go code,</a:t>
            </a:r>
          </a:p>
          <a:p>
            <a:pPr>
              <a:spcAft>
                <a:spcPts val="400"/>
              </a:spcAft>
              <a:defRPr sz="1100" b="0">
                <a:solidFill>
                  <a:srgbClr val="888899"/>
                </a:solidFill>
                <a:latin typeface="Calibri"/>
              </a:defRPr>
            </a:pPr>
            <a:r>
              <a:t>evaluate via BLIS simulator, and evolve better</a:t>
            </a:r>
          </a:p>
          <a:p>
            <a:pPr>
              <a:spcAft>
                <a:spcPts val="400"/>
              </a:spcAft>
              <a:defRPr sz="1100" b="0">
                <a:solidFill>
                  <a:srgbClr val="888899"/>
                </a:solidFill>
                <a:latin typeface="Calibri"/>
              </a:defRPr>
            </a:pPr>
            <a:r>
              <a:t>routing algorithms autonomously.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99"/>
                </a:solidFill>
                <a:latin typeface="Calibri"/>
              </a:defRPr>
            </a:pPr>
            <a:r>
              <a:t>SkyDiscover Framework  •  BLIS Router Optimization  •  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Experiment Setup: BLIS Router Optimization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0B4A0"/>
                </a:solidFill>
                <a:latin typeface="Calibri"/>
              </a:defRPr>
            </a:pPr>
            <a:r>
              <a:t>Multi-LLM × Multi-Seed × Multi-Workload evaluation matrix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61288"/>
            <a:ext cx="3383280" cy="242316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29844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ACC"/>
                </a:solidFill>
                <a:latin typeface="Calibri"/>
              </a:defRPr>
            </a:pPr>
            <a:r>
              <a:t>Multi-LLM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64208"/>
            <a:ext cx="3017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Validates generalization across model sizes</a:t>
            </a:r>
          </a:p>
          <a:p>
            <a:pPr>
              <a:spcAft>
                <a:spcPts val="400"/>
              </a:spcAft>
              <a:defRPr sz="600" b="0">
                <a:solidFill>
                  <a:srgbClr val="CCCCCC"/>
                </a:solidFill>
                <a:latin typeface="Calibri"/>
              </a:defRPr>
            </a:pPr>
            <a:endParaRPr/>
          </a:p>
          <a:p>
            <a:pPr>
              <a:spcAft>
                <a:spcPts val="40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Model 1: Qwen-7B  (smaller model)</a:t>
            </a:r>
          </a:p>
          <a:p>
            <a:pPr>
              <a:spcAft>
                <a:spcPts val="400"/>
              </a:spcAft>
              <a:defRPr sz="1000" b="0">
                <a:solidFill>
                  <a:srgbClr val="888899"/>
                </a:solidFill>
                <a:latin typeface="Calibri"/>
              </a:defRPr>
            </a:pPr>
            <a:r>
              <a:t>  Blackbox estimator, trained coefficients</a:t>
            </a:r>
          </a:p>
          <a:p>
            <a:pPr>
              <a:spcAft>
                <a:spcPts val="400"/>
              </a:spcAft>
              <a:defRPr sz="400" b="0">
                <a:solidFill>
                  <a:srgbClr val="CCCCCC"/>
                </a:solidFill>
                <a:latin typeface="Calibri"/>
              </a:defRPr>
            </a:pPr>
            <a:endParaRPr/>
          </a:p>
          <a:p>
            <a:pPr>
              <a:spcAft>
                <a:spcPts val="40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Model 2: Qwen-14B  (larger model)</a:t>
            </a:r>
          </a:p>
          <a:p>
            <a:pPr>
              <a:spcAft>
                <a:spcPts val="400"/>
              </a:spcAft>
              <a:defRPr sz="1000" b="0">
                <a:solidFill>
                  <a:srgbClr val="888899"/>
                </a:solidFill>
                <a:latin typeface="Calibri"/>
              </a:defRPr>
            </a:pPr>
            <a:r>
              <a:t>  Tests routing under heavier compute</a:t>
            </a:r>
          </a:p>
          <a:p>
            <a:pPr>
              <a:spcAft>
                <a:spcPts val="400"/>
              </a:spcAft>
              <a:defRPr sz="400" b="0">
                <a:solidFill>
                  <a:srgbClr val="CCCCCC"/>
                </a:solidFill>
                <a:latin typeface="Calibri"/>
              </a:defRPr>
            </a:pPr>
            <a:endParaRPr/>
          </a:p>
          <a:p>
            <a:pPr>
              <a:spcAft>
                <a:spcPts val="400"/>
              </a:spcAft>
              <a:defRPr sz="1000" b="0">
                <a:solidFill>
                  <a:srgbClr val="00B4A0"/>
                </a:solidFill>
                <a:latin typeface="Calibri"/>
              </a:defRPr>
            </a:pPr>
            <a:r>
              <a:t>Scores averaged across both models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51960" y="1161288"/>
            <a:ext cx="3383280" cy="242316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434840" y="129844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8C42"/>
                </a:solidFill>
                <a:latin typeface="Calibri"/>
              </a:defRPr>
            </a:pPr>
            <a:r>
              <a:t>Multi-Seed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4840" y="1664208"/>
            <a:ext cx="3017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Prevents overfitting to one random scenario</a:t>
            </a:r>
          </a:p>
          <a:p>
            <a:pPr>
              <a:spcAft>
                <a:spcPts val="400"/>
              </a:spcAft>
              <a:defRPr sz="600" b="0">
                <a:solidFill>
                  <a:srgbClr val="CCCCCC"/>
                </a:solidFill>
                <a:latin typeface="Calibri"/>
              </a:defRPr>
            </a:pPr>
            <a:endParaRPr/>
          </a:p>
          <a:p>
            <a:pPr>
              <a:spcAft>
                <a:spcPts val="40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Seed 42:  Normal traffic patterns</a:t>
            </a:r>
          </a:p>
          <a:p>
            <a:pPr>
              <a:spcAft>
                <a:spcPts val="400"/>
              </a:spcAft>
              <a:defRPr sz="1000" b="0">
                <a:solidFill>
                  <a:srgbClr val="888899"/>
                </a:solidFill>
                <a:latin typeface="Calibri"/>
              </a:defRPr>
            </a:pPr>
            <a:r>
              <a:t>  Standard request arrival distribution</a:t>
            </a:r>
          </a:p>
          <a:p>
            <a:pPr>
              <a:spcAft>
                <a:spcPts val="400"/>
              </a:spcAft>
              <a:defRPr sz="400" b="0">
                <a:solidFill>
                  <a:srgbClr val="CCCCCC"/>
                </a:solidFill>
                <a:latin typeface="Calibri"/>
              </a:defRPr>
            </a:pPr>
            <a:endParaRPr/>
          </a:p>
          <a:p>
            <a:pPr>
              <a:spcAft>
                <a:spcPts val="40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Seed 456: Bursty traffic stress test</a:t>
            </a:r>
          </a:p>
          <a:p>
            <a:pPr>
              <a:spcAft>
                <a:spcPts val="400"/>
              </a:spcAft>
              <a:defRPr sz="1000" b="0">
                <a:solidFill>
                  <a:srgbClr val="888899"/>
                </a:solidFill>
                <a:latin typeface="Calibri"/>
              </a:defRPr>
            </a:pPr>
            <a:r>
              <a:t>  Exposes load-balance saturation</a:t>
            </a:r>
          </a:p>
          <a:p>
            <a:pPr>
              <a:spcAft>
                <a:spcPts val="400"/>
              </a:spcAft>
              <a:defRPr sz="400" b="0">
                <a:solidFill>
                  <a:srgbClr val="CCCCCC"/>
                </a:solidFill>
                <a:latin typeface="Calibri"/>
              </a:defRPr>
            </a:pPr>
            <a:endParaRPr/>
          </a:p>
          <a:p>
            <a:pPr>
              <a:spcAft>
                <a:spcPts val="400"/>
              </a:spcAft>
              <a:defRPr sz="1000" b="0">
                <a:solidFill>
                  <a:srgbClr val="00B4A0"/>
                </a:solidFill>
                <a:latin typeface="Calibri"/>
              </a:defRPr>
            </a:pPr>
            <a:r>
              <a:t>Scores averaged across both seeds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1161288"/>
            <a:ext cx="3383280" cy="242316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138160" y="129844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9B59B6"/>
                </a:solidFill>
                <a:latin typeface="Calibri"/>
              </a:defRPr>
            </a:pPr>
            <a:r>
              <a:t>Multi-Workload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1664208"/>
            <a:ext cx="3017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Tests across diverse routing challenges</a:t>
            </a:r>
          </a:p>
          <a:p>
            <a:pPr>
              <a:spcAft>
                <a:spcPts val="400"/>
              </a:spcAft>
              <a:defRPr sz="600" b="0">
                <a:solidFill>
                  <a:srgbClr val="CCCCCC"/>
                </a:solidFill>
                <a:latin typeface="Calibri"/>
              </a:defRPr>
            </a:pPr>
            <a:endParaRPr/>
          </a:p>
          <a:p>
            <a:pPr>
              <a:spcAft>
                <a:spcPts val="40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cache_warmup: Prefix-affinity vs balance</a:t>
            </a:r>
          </a:p>
          <a:p>
            <a:pPr>
              <a:spcAft>
                <a:spcPts val="400"/>
              </a:spcAft>
              <a:defRPr sz="1000" b="0">
                <a:solidFill>
                  <a:srgbClr val="888899"/>
                </a:solidFill>
                <a:latin typeface="Calibri"/>
              </a:defRPr>
            </a:pPr>
            <a:r>
              <a:t>  3 prefix groups across 4 instances</a:t>
            </a:r>
          </a:p>
          <a:p>
            <a:pPr>
              <a:spcAft>
                <a:spcPts val="400"/>
              </a:spcAft>
              <a:defRPr sz="400" b="0">
                <a:solidFill>
                  <a:srgbClr val="CCCCCC"/>
                </a:solidFill>
                <a:latin typeface="Calibri"/>
              </a:defRPr>
            </a:pPr>
            <a:endParaRPr/>
          </a:p>
          <a:p>
            <a:pPr>
              <a:spcAft>
                <a:spcPts val="40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load_spikes: Bursty arrival routing</a:t>
            </a:r>
          </a:p>
          <a:p>
            <a:pPr>
              <a:spcAft>
                <a:spcPts val="400"/>
              </a:spcAft>
              <a:defRPr sz="1000" b="0">
                <a:solidFill>
                  <a:srgbClr val="888899"/>
                </a:solidFill>
                <a:latin typeface="Calibri"/>
              </a:defRPr>
            </a:pPr>
            <a:r>
              <a:t>  One prefix group gets 50% of traffic</a:t>
            </a:r>
          </a:p>
          <a:p>
            <a:pPr>
              <a:spcAft>
                <a:spcPts val="400"/>
              </a:spcAft>
              <a:defRPr sz="400" b="0">
                <a:solidFill>
                  <a:srgbClr val="CCCCCC"/>
                </a:solidFill>
                <a:latin typeface="Calibri"/>
              </a:defRPr>
            </a:pPr>
            <a:endParaRPr/>
          </a:p>
          <a:p>
            <a:pPr>
              <a:spcAft>
                <a:spcPts val="40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multiturn: Session stickiness</a:t>
            </a:r>
          </a:p>
          <a:p>
            <a:pPr>
              <a:spcAft>
                <a:spcPts val="400"/>
              </a:spcAft>
              <a:defRPr sz="1000" b="0">
                <a:solidFill>
                  <a:srgbClr val="888899"/>
                </a:solidFill>
                <a:latin typeface="Calibri"/>
              </a:defRPr>
            </a:pPr>
            <a:r>
              <a:t>  Multi-turn convos with large prefix caches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" y="38130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rPr dirty="0"/>
              <a:t>One Iteration of the Discovery Loop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-91440" y="4297680"/>
            <a:ext cx="2103120" cy="164592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-18288" y="4370832"/>
            <a:ext cx="320040" cy="320040"/>
          </a:xfrm>
          <a:prstGeom prst="ellipse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0" y="470916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7ACC"/>
                </a:solidFill>
                <a:latin typeface="Calibri"/>
              </a:defRPr>
            </a:pPr>
            <a:r>
              <a:t>LLM Generates</a:t>
            </a:r>
            <a:br/>
            <a:r>
              <a:t>Code Mutation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0" y="516636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CCCCC"/>
                </a:solidFill>
                <a:latin typeface="Calibri"/>
              </a:defRPr>
            </a:pPr>
            <a:r>
              <a:t>Framework asks LLM to</a:t>
            </a:r>
            <a:br/>
            <a:r>
              <a:t>improve the Go routing</a:t>
            </a:r>
            <a:br/>
            <a:r>
              <a:t>function (WeightedScoring.</a:t>
            </a:r>
            <a:br/>
            <a:r>
              <a:t>Route method)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49377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888899"/>
                </a:solidFill>
                <a:latin typeface="Calibri"/>
              </a:defRPr>
            </a:pPr>
            <a:r>
              <a:rPr dirty="0"/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468880" y="4297680"/>
            <a:ext cx="2103120" cy="164592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00B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2542032" y="4370832"/>
            <a:ext cx="320040" cy="320040"/>
          </a:xfrm>
          <a:prstGeom prst="ellipse">
            <a:avLst/>
          </a:prstGeom>
          <a:solidFill>
            <a:srgbClr val="00B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60320" y="470916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B4A0"/>
                </a:solidFill>
                <a:latin typeface="Calibri"/>
              </a:defRPr>
            </a:pPr>
            <a:r>
              <a:t>Go Build</a:t>
            </a:r>
            <a:br/>
            <a:r>
              <a:t>&amp; Validate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0320" y="516636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CCCCC"/>
                </a:solidFill>
                <a:latin typeface="Calibri"/>
              </a:defRPr>
            </a:pPr>
            <a:r>
              <a:t>Compile the mutated</a:t>
            </a:r>
            <a:br/>
            <a:r>
              <a:t>routing.go to catch</a:t>
            </a:r>
            <a:br/>
            <a:r>
              <a:t>syntax errors before</a:t>
            </a:r>
            <a:br/>
            <a:r>
              <a:t>running simulations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49377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888899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0" y="4297680"/>
            <a:ext cx="2103120" cy="164592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5102352" y="4370832"/>
            <a:ext cx="320040" cy="32004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20640" y="470916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8C42"/>
                </a:solidFill>
                <a:latin typeface="Calibri"/>
              </a:defRPr>
            </a:pPr>
            <a:r>
              <a:t>Run 12</a:t>
            </a:r>
            <a:br/>
            <a:r>
              <a:t>Simulations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20640" y="516636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CCCCC"/>
                </a:solidFill>
                <a:latin typeface="Calibri"/>
              </a:defRPr>
            </a:pPr>
            <a:r>
              <a:t>2 seeds × 2 models</a:t>
            </a:r>
            <a:br/>
            <a:r>
              <a:t>× 3 workloads</a:t>
            </a:r>
            <a:br/>
            <a:r>
              <a:t>= 12 simulation runs</a:t>
            </a:r>
            <a:br/>
            <a:r>
              <a:t>(~30-60s total)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0" y="49377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888899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589520" y="4297680"/>
            <a:ext cx="2103120" cy="164592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7662672" y="4370832"/>
            <a:ext cx="320040" cy="320040"/>
          </a:xfrm>
          <a:prstGeom prst="ellipse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80960" y="470916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9B59B6"/>
                </a:solidFill>
                <a:latin typeface="Calibri"/>
              </a:defRPr>
            </a:pPr>
            <a:r>
              <a:t>Score &amp;</a:t>
            </a:r>
            <a:br/>
            <a:r>
              <a:t>Archive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80960" y="516636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CCCCC"/>
                </a:solidFill>
                <a:latin typeface="Calibri"/>
              </a:defRPr>
            </a:pPr>
            <a:r>
              <a:t>score = -0.5 × avg_e2e</a:t>
            </a:r>
            <a:br/>
            <a:r>
              <a:t>  - 0.5 × avg_p95</a:t>
            </a:r>
            <a:br/>
            <a:r>
              <a:t>Keep if better than</a:t>
            </a:r>
            <a:br/>
            <a:r>
              <a:t>current best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92640" y="49377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888899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149840" y="4297680"/>
            <a:ext cx="2103120" cy="164592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10222992" y="4370832"/>
            <a:ext cx="320040" cy="320040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41280" y="470916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ECC71"/>
                </a:solidFill>
                <a:latin typeface="Calibri"/>
              </a:defRPr>
            </a:pPr>
            <a:r>
              <a:t>Feedback</a:t>
            </a:r>
            <a:br/>
            <a:r>
              <a:t>to LLM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41280" y="516636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CCCCC"/>
                </a:solidFill>
                <a:latin typeface="Calibri"/>
              </a:defRPr>
            </a:pPr>
            <a:r>
              <a:t>Score + error info</a:t>
            </a:r>
            <a:br/>
            <a:r>
              <a:t>fed back to guide</a:t>
            </a:r>
            <a:br/>
            <a:r>
              <a:t>next mutation</a:t>
            </a:r>
            <a:br/>
            <a:r>
              <a:t>(repeat 50-100×)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6126480"/>
            <a:ext cx="11064240" cy="45720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31520" y="6172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B4A0"/>
                </a:solidFill>
                <a:latin typeface="Calibri"/>
              </a:defRPr>
            </a:pPr>
            <a:r>
              <a:t>Each evaluation = 12 simulations  |  4 frameworks run sequentially  |  50 iterations each  |  ~60s/iteration  |  Total: ~3.5 hours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Results: 60-63% Latency Improvement Across All Frameworks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99"/>
                </a:solidFill>
                <a:latin typeface="Calibri"/>
              </a:defRPr>
            </a:pPr>
            <a:r>
              <a:t>Experiment: 260309_50i_twoseed  •  50 iterations  •  Seeds 42,456  •  Multi-LLM ON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280160"/>
          <a:ext cx="566928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57200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% Improvement vs Baseline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4892040"/>
            <a:ext cx="1325880" cy="59436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4919472"/>
            <a:ext cx="1234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8C42"/>
                </a:solidFill>
                <a:latin typeface="Calibri"/>
              </a:defRPr>
            </a:pPr>
            <a:r>
              <a:t>adaevolve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512064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+60.9%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65960" y="4892040"/>
            <a:ext cx="1325880" cy="59436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00B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011680" y="4919472"/>
            <a:ext cx="1234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B4A0"/>
                </a:solidFill>
                <a:latin typeface="Calibri"/>
              </a:defRPr>
            </a:pPr>
            <a:r>
              <a:t>openevolve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512064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+63.0%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4892040"/>
            <a:ext cx="1325880" cy="59436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29000" y="4919472"/>
            <a:ext cx="1234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7ACC"/>
                </a:solidFill>
                <a:latin typeface="Calibri"/>
              </a:defRPr>
            </a:pPr>
            <a:r>
              <a:t>evox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512064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+63.3%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00600" y="4892040"/>
            <a:ext cx="1325880" cy="59436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846320" y="4919472"/>
            <a:ext cx="1234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9B59B6"/>
                </a:solidFill>
                <a:latin typeface="Calibri"/>
              </a:defRPr>
            </a:pPr>
            <a:r>
              <a:t>gepa_native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512064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+63.3%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12801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Key Findings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0" y="1737360"/>
            <a:ext cx="73152" cy="6858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12280" y="1755648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All 4 frameworks converge to ~63%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2280" y="1993392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Similar ceiling suggests a fundamental performance</a:t>
            </a:r>
            <a:br/>
            <a:r>
              <a:t>boundary for this router configuration.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0" y="2560320"/>
            <a:ext cx="73152" cy="68580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12280" y="2578608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gepa_native: most sample-efficient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12280" y="2816352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Best score with only 20 unique programs evaluated</a:t>
            </a:r>
            <a:br/>
            <a:r>
              <a:t>and lowest build error rate (7% vs 23-30%).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0" y="3383280"/>
            <a:ext cx="73152" cy="6858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12280" y="3401568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Multiturn is the differentiator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2280" y="3639312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Framework scores differ most on multiturn workload</a:t>
            </a:r>
            <a:br/>
            <a:r>
              <a:t>(325-584ms E2E), while others nearly identical.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0" y="4206240"/>
            <a:ext cx="73152" cy="6858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812280" y="4224528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All discover similar core strategies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12280" y="4462272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Fresh signal priority, non-saturating load penalty,</a:t>
            </a:r>
            <a:br/>
            <a:r>
              <a:t>KV memory pressure thresholds, session affinity.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50292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Sim → Real Transfer Viability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0" y="5394960"/>
            <a:ext cx="5029200" cy="32004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720840" y="5422392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B4A0"/>
                </a:solidFill>
                <a:latin typeface="Calibri"/>
              </a:defRPr>
            </a:pPr>
            <a:r>
              <a:t>openevolve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63840" y="5422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ECC71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542239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Deploy as-is. No new signals needed.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0" y="5742432"/>
            <a:ext cx="5029200" cy="32004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720840" y="5769864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B59B6"/>
                </a:solidFill>
                <a:latin typeface="Calibri"/>
              </a:defRPr>
            </a:pPr>
            <a:r>
              <a:t>gepa_native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63840" y="5769864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ECC71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86800" y="5769864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Deploy with SLO middleware.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83680" y="6089904"/>
            <a:ext cx="5029200" cy="32004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720840" y="6117336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7ACC"/>
                </a:solidFill>
                <a:latin typeface="Calibri"/>
              </a:defRPr>
            </a:pPr>
            <a:r>
              <a:t>evox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63840" y="6117336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8C42"/>
                </a:solidFill>
                <a:latin typeface="Calibri"/>
              </a:defRPr>
            </a:pPr>
            <a:r>
              <a:t>MEDIUM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0" y="6117336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Needs FreeKVBlocks adapter.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583680" y="6437376"/>
            <a:ext cx="5029200" cy="32004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720840" y="6464808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8C42"/>
                </a:solidFill>
                <a:latin typeface="Calibri"/>
              </a:defRPr>
            </a:pPr>
            <a:r>
              <a:t>adaevolve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863840" y="6464808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E74C3C"/>
                </a:solidFill>
                <a:latin typeface="Calibri"/>
              </a:defRPr>
            </a:pPr>
            <a:r>
              <a:t>LOW-MED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86800" y="646480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Hash staleness needs rework.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99"/>
                </a:solidFill>
                <a:latin typeface="Calibri"/>
              </a:defRPr>
            </a:pPr>
            <a:r>
              <a:t>Full results: outputs/blis_router/260309_50i_twoseed/analysis.md  •  7 plots + CSV + JSON + diffs available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706</Words>
  <Application>Microsoft Macintosh PowerPoint</Application>
  <PresentationFormat>Widescreen</PresentationFormat>
  <Paragraphs>126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Mert Toslali</cp:lastModifiedBy>
  <cp:revision>7</cp:revision>
  <dcterms:created xsi:type="dcterms:W3CDTF">2013-01-27T09:14:16Z</dcterms:created>
  <dcterms:modified xsi:type="dcterms:W3CDTF">2026-03-11T13:58:05Z</dcterms:modified>
  <cp:category/>
</cp:coreProperties>
</file>